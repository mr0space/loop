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9144000" cy="6858000" type="screen4x3"/>
  <p:notesSz cx="6858000" cy="9144000"/>
  <p:defaultTextStyle>
    <a:defPPr lvl="0">
      <a:defRPr lang="ru-RU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E2C"/>
    <a:srgbClr val="6B8A6B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FF07E-F27A-444B-9CD6-337785B3F1CE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55B72-D409-4C73-AAA6-9D94F64B9E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4898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FF07E-F27A-444B-9CD6-337785B3F1CE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55B72-D409-4C73-AAA6-9D94F64B9E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1803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FF07E-F27A-444B-9CD6-337785B3F1CE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55B72-D409-4C73-AAA6-9D94F64B9E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7923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FF07E-F27A-444B-9CD6-337785B3F1CE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55B72-D409-4C73-AAA6-9D94F64B9E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8520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FF07E-F27A-444B-9CD6-337785B3F1CE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55B72-D409-4C73-AAA6-9D94F64B9E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421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FF07E-F27A-444B-9CD6-337785B3F1CE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55B72-D409-4C73-AAA6-9D94F64B9E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527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FF07E-F27A-444B-9CD6-337785B3F1CE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55B72-D409-4C73-AAA6-9D94F64B9E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8299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FF07E-F27A-444B-9CD6-337785B3F1CE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55B72-D409-4C73-AAA6-9D94F64B9E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7185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FF07E-F27A-444B-9CD6-337785B3F1CE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55B72-D409-4C73-AAA6-9D94F64B9E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8523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FF07E-F27A-444B-9CD6-337785B3F1CE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55B72-D409-4C73-AAA6-9D94F64B9E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6948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FF07E-F27A-444B-9CD6-337785B3F1CE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55B72-D409-4C73-AAA6-9D94F64B9E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149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FF07E-F27A-444B-9CD6-337785B3F1CE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55B72-D409-4C73-AAA6-9D94F64B9E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895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411760" y="4365104"/>
            <a:ext cx="6688832" cy="1728192"/>
          </a:xfrm>
        </p:spPr>
        <p:txBody>
          <a:bodyPr>
            <a:noAutofit/>
          </a:bodyPr>
          <a:lstStyle/>
          <a:p>
            <a:pPr algn="l"/>
            <a:r>
              <a:rPr sz="1400" b="1" dirty="0" err="1">
                <a:solidFill>
                  <a:schemeClr val="tx1"/>
                </a:solidFill>
                <a:latin typeface="Times New Roman"/>
              </a:rPr>
              <a:t>по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программе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подготовки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специалистов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среднего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звена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специальности</a:t>
            </a:r>
            <a:endParaRPr lang="ru-RU" sz="1400" b="1" dirty="0">
              <a:solidFill>
                <a:schemeClr val="tx1"/>
              </a:solidFill>
              <a:latin typeface="Times New Roman"/>
            </a:endParaRPr>
          </a:p>
          <a:p>
            <a:pPr algn="l"/>
            <a:r>
              <a:rPr sz="1400" b="1" dirty="0">
                <a:solidFill>
                  <a:schemeClr val="tx1"/>
                </a:solidFill>
                <a:latin typeface="Times New Roman"/>
              </a:rPr>
              <a:t>09.02.07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Информационные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системы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и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программирование</a:t>
            </a:r>
            <a:endParaRPr lang="ru-RU" sz="1400" b="1" dirty="0">
              <a:solidFill>
                <a:schemeClr val="tx1"/>
              </a:solidFill>
              <a:latin typeface="Times New Roman"/>
            </a:endParaRPr>
          </a:p>
          <a:p>
            <a:pPr algn="l"/>
            <a:r>
              <a:rPr sz="1400" b="1" dirty="0" err="1">
                <a:solidFill>
                  <a:schemeClr val="tx1"/>
                </a:solidFill>
                <a:latin typeface="Times New Roman"/>
              </a:rPr>
              <a:t>выполнена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студентом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Овчинников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Максим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Алексеевич</a:t>
            </a:r>
            <a:endParaRPr lang="ru-RU" sz="1400" b="1" dirty="0">
              <a:solidFill>
                <a:schemeClr val="tx1"/>
              </a:solidFill>
              <a:latin typeface="Times New Roman"/>
            </a:endParaRPr>
          </a:p>
          <a:p>
            <a:pPr algn="l"/>
            <a:r>
              <a:rPr sz="1400" b="1" dirty="0" err="1">
                <a:solidFill>
                  <a:schemeClr val="tx1"/>
                </a:solidFill>
                <a:latin typeface="Times New Roman"/>
              </a:rPr>
              <a:t>группа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4 ИСИП А</a:t>
            </a:r>
            <a:endParaRPr lang="ru-RU" sz="1400" b="1" dirty="0">
              <a:solidFill>
                <a:schemeClr val="tx1"/>
              </a:solidFill>
              <a:latin typeface="Times New Roman"/>
            </a:endParaRPr>
          </a:p>
          <a:p>
            <a:pPr algn="l"/>
            <a:r>
              <a:rPr sz="1400" b="1" dirty="0" err="1">
                <a:solidFill>
                  <a:schemeClr val="tx1"/>
                </a:solidFill>
                <a:latin typeface="Times New Roman"/>
              </a:rPr>
              <a:t>Очной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формы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обучения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endParaRPr lang="ru-RU" sz="1400" b="1" dirty="0">
              <a:solidFill>
                <a:schemeClr val="tx1"/>
              </a:solidFill>
              <a:latin typeface="Times New Roman"/>
            </a:endParaRPr>
          </a:p>
          <a:p>
            <a:pPr algn="l"/>
            <a:r>
              <a:rPr sz="1400" b="1" dirty="0" err="1">
                <a:solidFill>
                  <a:schemeClr val="tx1"/>
                </a:solidFill>
                <a:latin typeface="Times New Roman"/>
              </a:rPr>
              <a:t>Руководитель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Будакова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Ольга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Васильевна</a:t>
            </a:r>
            <a:endParaRPr sz="1400" b="1" dirty="0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1120080" y="-2738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МИНИСТЕРСТВО ОБРАЗОВАНИЯ  РБ</a:t>
            </a:r>
          </a:p>
          <a:p>
            <a:r>
              <a:rPr lang="ru-RU" sz="16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ГОСУДАРСТВЕННОЕ БЮДЖЕТНОЕ ПРОФЕССИОНАЛЬНОЕ ОБРАЗОВАТЕЛЬНОЕ УЧРЕЖДЕНИЕ УФИМСКИЙ МНОГОПРОФИЛЬНЫЙ ПРОФЕССИОНАЛЬНЫЙ КОЛЛЕДЖ</a:t>
            </a:r>
          </a:p>
          <a:p>
            <a:endParaRPr lang="ru-RU" sz="16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899592" y="1442641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800" dirty="0"/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1358472" y="6237312"/>
            <a:ext cx="6400800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>
                <a:solidFill>
                  <a:schemeClr val="tx1"/>
                </a:solidFill>
              </a:rPr>
              <a:t>2026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619672" y="1326247"/>
            <a:ext cx="640871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latin typeface="Times New Roman"/>
              </a:rPr>
              <a:t>КУРСОВАЯ РАБОТА</a:t>
            </a:r>
          </a:p>
          <a:p>
            <a:pPr algn="ctr"/>
            <a:r>
              <a:rPr sz="2800" b="1" dirty="0" err="1">
                <a:latin typeface="Times New Roman"/>
              </a:rPr>
              <a:t>на</a:t>
            </a:r>
            <a:r>
              <a:rPr sz="2800" b="1" dirty="0">
                <a:latin typeface="Times New Roman"/>
              </a:rPr>
              <a:t> </a:t>
            </a:r>
            <a:r>
              <a:rPr sz="2800" b="1" dirty="0" err="1">
                <a:latin typeface="Times New Roman"/>
              </a:rPr>
              <a:t>тему</a:t>
            </a:r>
            <a:endParaRPr sz="2800" b="1" dirty="0">
              <a:latin typeface="Times New Roman"/>
            </a:endParaRPr>
          </a:p>
          <a:p>
            <a:pPr algn="ctr"/>
            <a:r>
              <a:rPr sz="2800" b="1" dirty="0">
                <a:latin typeface="Times New Roman"/>
              </a:rPr>
              <a:t>ИНТЕРНЕТ-МАГАЗИН ЭКОЛОГИЧНЫХ ТОВАРОВ (ZERO-WASTE)</a:t>
            </a:r>
          </a:p>
        </p:txBody>
      </p:sp>
    </p:spTree>
    <p:extLst>
      <p:ext uri="{BB962C8B-B14F-4D97-AF65-F5344CB8AC3E}">
        <p14:creationId xmlns:p14="http://schemas.microsoft.com/office/powerpoint/2010/main" val="1066615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charset="0"/>
                <a:ea typeface="+mn-ea"/>
                <a:cs typeface="Arial" charset="0"/>
              </a:rPr>
              <a:t>ЦЕЛЬ</a:t>
            </a:r>
            <a:r>
              <a:rPr lang="ru-RU" dirty="0"/>
              <a:t> </a:t>
            </a:r>
            <a:r>
              <a:rPr lang="ru-RU" sz="28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charset="0"/>
                <a:ea typeface="+mn-ea"/>
                <a:cs typeface="Arial" charset="0"/>
              </a:rPr>
              <a:t>ИССЛЕДОВАНИЯ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>
                <a:latin typeface="Times New Roman"/>
              </a:rPr>
              <a:t>Целью курсовой работы является разработка веб-приложения — интернет-магазина экологичных товаров в концепции zero-waste, обеспечивающего удобный поиск, оформление заказа и управление каталогом через админ-панель.</a:t>
            </a:r>
          </a:p>
        </p:txBody>
      </p:sp>
    </p:spTree>
    <p:extLst>
      <p:ext uri="{BB962C8B-B14F-4D97-AF65-F5344CB8AC3E}">
        <p14:creationId xmlns:p14="http://schemas.microsoft.com/office/powerpoint/2010/main" val="304248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charset="0"/>
                <a:ea typeface="+mn-ea"/>
                <a:cs typeface="Arial" charset="0"/>
              </a:rPr>
              <a:t>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48996"/>
            <a:ext cx="8229600" cy="5323304"/>
          </a:xfrm>
        </p:spPr>
        <p:txBody>
          <a:bodyPr>
            <a:normAutofit lnSpcReduction="1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dirty="0" err="1">
                <a:latin typeface="Times New Roman"/>
              </a:rPr>
              <a:t>Изучить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предметную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область</a:t>
            </a:r>
            <a:r>
              <a:rPr dirty="0">
                <a:latin typeface="Times New Roman"/>
              </a:rPr>
              <a:t> и </a:t>
            </a:r>
            <a:r>
              <a:rPr dirty="0" err="1">
                <a:latin typeface="Times New Roman"/>
              </a:rPr>
              <a:t>определить</a:t>
            </a:r>
            <a:endParaRPr lang="en-US" dirty="0">
              <a:latin typeface="Times New Roman"/>
            </a:endParaRPr>
          </a:p>
          <a:p>
            <a:pPr marL="0" indent="0" algn="just">
              <a:buNone/>
            </a:pPr>
            <a:r>
              <a:rPr dirty="0" err="1">
                <a:latin typeface="Times New Roman"/>
              </a:rPr>
              <a:t>требования</a:t>
            </a:r>
            <a:r>
              <a:rPr dirty="0">
                <a:latin typeface="Times New Roman"/>
              </a:rPr>
              <a:t> к </a:t>
            </a:r>
            <a:r>
              <a:rPr dirty="0" err="1">
                <a:latin typeface="Times New Roman"/>
              </a:rPr>
              <a:t>интернет-магазину</a:t>
            </a:r>
            <a:r>
              <a:rPr dirty="0">
                <a:latin typeface="Times New Roman"/>
              </a:rPr>
              <a:t>.</a:t>
            </a:r>
          </a:p>
          <a:p>
            <a:pPr marL="0" indent="0">
              <a:buNone/>
            </a:pPr>
            <a:r>
              <a:rPr lang="ru-RU" dirty="0">
                <a:latin typeface="Times New Roman"/>
              </a:rPr>
              <a:t>2</a:t>
            </a:r>
            <a:r>
              <a:rPr lang="en-US" dirty="0">
                <a:latin typeface="Times New Roman"/>
              </a:rPr>
              <a:t>. </a:t>
            </a:r>
            <a:r>
              <a:rPr dirty="0" err="1">
                <a:latin typeface="Times New Roman"/>
              </a:rPr>
              <a:t>Выбрать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средства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разработки</a:t>
            </a:r>
            <a:endParaRPr lang="ru-RU" dirty="0">
              <a:latin typeface="Times New Roman"/>
            </a:endParaRPr>
          </a:p>
          <a:p>
            <a:pPr marL="0" indent="0">
              <a:buNone/>
            </a:pPr>
            <a:r>
              <a:rPr lang="en-US" dirty="0">
                <a:latin typeface="Times New Roman"/>
              </a:rPr>
              <a:t>3. </a:t>
            </a:r>
            <a:r>
              <a:rPr dirty="0" err="1">
                <a:latin typeface="Times New Roman"/>
              </a:rPr>
              <a:t>Спроектировать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структуру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сайта</a:t>
            </a:r>
            <a:r>
              <a:rPr dirty="0">
                <a:latin typeface="Times New Roman"/>
              </a:rPr>
              <a:t> и </a:t>
            </a:r>
            <a:r>
              <a:rPr dirty="0" err="1">
                <a:latin typeface="Times New Roman"/>
              </a:rPr>
              <a:t>базу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данных</a:t>
            </a:r>
            <a:r>
              <a:rPr dirty="0">
                <a:latin typeface="Times New Roman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Times New Roman"/>
              </a:rPr>
              <a:t>4. </a:t>
            </a:r>
            <a:r>
              <a:rPr lang="ru-RU" dirty="0">
                <a:latin typeface="Times New Roman"/>
              </a:rPr>
              <a:t>Разработать функционал каталога, корзины, избранного, оформления заказа, личного кабинета пользователя, системы </a:t>
            </a:r>
            <a:r>
              <a:rPr lang="ru-RU" dirty="0" err="1">
                <a:latin typeface="Times New Roman"/>
              </a:rPr>
              <a:t>промокодов</a:t>
            </a:r>
            <a:r>
              <a:rPr lang="ru-RU" dirty="0">
                <a:latin typeface="Times New Roman"/>
              </a:rPr>
              <a:t> и админ-панели для управления товарами, категориями, заказами и пользователями.</a:t>
            </a:r>
          </a:p>
        </p:txBody>
      </p:sp>
    </p:spTree>
    <p:extLst>
      <p:ext uri="{BB962C8B-B14F-4D97-AF65-F5344CB8AC3E}">
        <p14:creationId xmlns:p14="http://schemas.microsoft.com/office/powerpoint/2010/main" val="3172228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charset="0"/>
                <a:ea typeface="+mn-ea"/>
                <a:cs typeface="Arial" charset="0"/>
              </a:rPr>
              <a:t>ОБЪЕКТ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>
                <a:latin typeface="Times New Roman"/>
              </a:rPr>
              <a:t>Объектом исследования является процесс онлайн-продажи экологичных товаров и взаимодействие пользователей с интернет-магазином.</a:t>
            </a:r>
          </a:p>
        </p:txBody>
      </p:sp>
    </p:spTree>
    <p:extLst>
      <p:ext uri="{BB962C8B-B14F-4D97-AF65-F5344CB8AC3E}">
        <p14:creationId xmlns:p14="http://schemas.microsoft.com/office/powerpoint/2010/main" val="3085398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charset="0"/>
                <a:ea typeface="+mn-ea"/>
                <a:cs typeface="Arial" charset="0"/>
              </a:rPr>
              <a:t>ПРЕДМЕТ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/>
              </a:rPr>
              <a:t>Предметом исследования являются веб-технологии и методы проектирования веб-приложений для электронной коммерции (PHP, MySQL, HTML, CSS, JavaScript).</a:t>
            </a:r>
          </a:p>
        </p:txBody>
      </p:sp>
    </p:spTree>
    <p:extLst>
      <p:ext uri="{BB962C8B-B14F-4D97-AF65-F5344CB8AC3E}">
        <p14:creationId xmlns:p14="http://schemas.microsoft.com/office/powerpoint/2010/main" val="733408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charset="0"/>
                <a:ea typeface="+mn-ea"/>
                <a:cs typeface="Arial" charset="0"/>
              </a:rPr>
              <a:t>ПРАКТИЧЕСКАЯ ЗНАЧИМОСТЬ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>
                <a:latin typeface="Times New Roman"/>
              </a:rPr>
              <a:t>Практическая значимость заключается в создании рабочего прототипа интернет-магазина, который может использоваться для продаж zero-waste товаров, автоматизации обработки заказов, ведения каталога и повышения удобства покупки для клиентов.</a:t>
            </a:r>
          </a:p>
        </p:txBody>
      </p:sp>
    </p:spTree>
    <p:extLst>
      <p:ext uri="{BB962C8B-B14F-4D97-AF65-F5344CB8AC3E}">
        <p14:creationId xmlns:p14="http://schemas.microsoft.com/office/powerpoint/2010/main" val="2678351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charset="0"/>
                <a:ea typeface="+mn-ea"/>
                <a:cs typeface="Arial" charset="0"/>
              </a:rPr>
              <a:t>ЭТАПЫ РАЗРАБОТКИ</a:t>
            </a:r>
          </a:p>
        </p:txBody>
      </p:sp>
      <p:sp>
        <p:nvSpPr>
          <p:cNvPr id="5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dirty="0" err="1">
                <a:latin typeface="Times New Roman"/>
              </a:rPr>
              <a:t>Анализ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рынка</a:t>
            </a:r>
            <a:r>
              <a:rPr dirty="0">
                <a:latin typeface="Times New Roman"/>
              </a:rPr>
              <a:t> и </a:t>
            </a:r>
            <a:r>
              <a:rPr dirty="0" err="1">
                <a:latin typeface="Times New Roman"/>
              </a:rPr>
              <a:t>требований</a:t>
            </a:r>
            <a:r>
              <a:rPr dirty="0">
                <a:latin typeface="Times New Roman"/>
              </a:rPr>
              <a:t>.</a:t>
            </a:r>
          </a:p>
          <a:p>
            <a:r>
              <a:rPr dirty="0" err="1">
                <a:latin typeface="Times New Roman"/>
              </a:rPr>
              <a:t>Проектирование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структуры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сайта</a:t>
            </a:r>
            <a:r>
              <a:rPr dirty="0">
                <a:latin typeface="Times New Roman"/>
              </a:rPr>
              <a:t> и </a:t>
            </a:r>
            <a:r>
              <a:rPr dirty="0" err="1">
                <a:latin typeface="Times New Roman"/>
              </a:rPr>
              <a:t>базы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данных</a:t>
            </a:r>
            <a:r>
              <a:rPr dirty="0">
                <a:latin typeface="Times New Roman"/>
              </a:rPr>
              <a:t>.</a:t>
            </a:r>
          </a:p>
          <a:p>
            <a:r>
              <a:rPr dirty="0" err="1">
                <a:latin typeface="Times New Roman"/>
              </a:rPr>
              <a:t>Разработка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макетов</a:t>
            </a:r>
            <a:r>
              <a:rPr dirty="0">
                <a:latin typeface="Times New Roman"/>
              </a:rPr>
              <a:t> (wireframe) и </a:t>
            </a:r>
            <a:r>
              <a:rPr dirty="0" err="1">
                <a:latin typeface="Times New Roman"/>
              </a:rPr>
              <a:t>дизайн-концепции</a:t>
            </a:r>
            <a:r>
              <a:rPr dirty="0">
                <a:latin typeface="Times New Roman"/>
              </a:rPr>
              <a:t>.</a:t>
            </a:r>
          </a:p>
          <a:p>
            <a:r>
              <a:rPr dirty="0" err="1">
                <a:latin typeface="Times New Roman"/>
              </a:rPr>
              <a:t>Реализация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интерфейса</a:t>
            </a:r>
            <a:r>
              <a:rPr dirty="0">
                <a:latin typeface="Times New Roman"/>
              </a:rPr>
              <a:t> (frontend).</a:t>
            </a:r>
          </a:p>
          <a:p>
            <a:r>
              <a:rPr dirty="0" err="1">
                <a:latin typeface="Times New Roman"/>
              </a:rPr>
              <a:t>Реализация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серверной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логики</a:t>
            </a:r>
            <a:r>
              <a:rPr dirty="0">
                <a:latin typeface="Times New Roman"/>
              </a:rPr>
              <a:t> (backend) и API.</a:t>
            </a:r>
          </a:p>
          <a:p>
            <a:r>
              <a:rPr dirty="0" err="1">
                <a:latin typeface="Times New Roman"/>
              </a:rPr>
              <a:t>Разработка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админ-панели</a:t>
            </a:r>
            <a:r>
              <a:rPr dirty="0">
                <a:latin typeface="Times New Roman"/>
              </a:rPr>
              <a:t>.</a:t>
            </a:r>
          </a:p>
          <a:p>
            <a:r>
              <a:rPr dirty="0" err="1">
                <a:latin typeface="Times New Roman"/>
              </a:rPr>
              <a:t>Тестирование</a:t>
            </a:r>
            <a:r>
              <a:rPr dirty="0">
                <a:latin typeface="Times New Roman"/>
              </a:rPr>
              <a:t>, </a:t>
            </a:r>
            <a:r>
              <a:rPr dirty="0" err="1">
                <a:latin typeface="Times New Roman"/>
              </a:rPr>
              <a:t>отладка</a:t>
            </a:r>
            <a:r>
              <a:rPr dirty="0">
                <a:latin typeface="Times New Roman"/>
              </a:rPr>
              <a:t> и </a:t>
            </a:r>
            <a:r>
              <a:rPr dirty="0" err="1">
                <a:latin typeface="Times New Roman"/>
              </a:rPr>
              <a:t>подготовка</a:t>
            </a:r>
            <a:r>
              <a:rPr dirty="0">
                <a:latin typeface="Times New Roman"/>
              </a:rPr>
              <a:t> к </a:t>
            </a:r>
            <a:r>
              <a:rPr dirty="0" err="1">
                <a:latin typeface="Times New Roman"/>
              </a:rPr>
              <a:t>развёртыванию</a:t>
            </a:r>
            <a:r>
              <a:rPr lang="ru-RU" dirty="0">
                <a:latin typeface="Times New Roman"/>
              </a:rPr>
              <a:t>.</a:t>
            </a:r>
            <a:endParaRPr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9221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charset="0"/>
                <a:ea typeface="+mn-ea"/>
                <a:cs typeface="Arial" charset="0"/>
              </a:rPr>
              <a:t>АНАЛИЗ РЫНКА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7E6E3765-D3F2-4EAB-BD83-616271433210}"/>
              </a:ext>
            </a:extLst>
          </p:cNvPr>
          <p:cNvSpPr/>
          <p:nvPr/>
        </p:nvSpPr>
        <p:spPr>
          <a:xfrm>
            <a:off x="731520" y="1455420"/>
            <a:ext cx="76809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29C87103-E74E-4395-94F9-066AECB4EF25}"/>
              </a:ext>
            </a:extLst>
          </p:cNvPr>
          <p:cNvSpPr/>
          <p:nvPr/>
        </p:nvSpPr>
        <p:spPr>
          <a:xfrm>
            <a:off x="3291840" y="1455420"/>
            <a:ext cx="0" cy="484632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A31FF4E9-45A1-414C-B51B-343C5553F309}"/>
              </a:ext>
            </a:extLst>
          </p:cNvPr>
          <p:cNvSpPr/>
          <p:nvPr/>
        </p:nvSpPr>
        <p:spPr>
          <a:xfrm>
            <a:off x="5029200" y="1455420"/>
            <a:ext cx="0" cy="484632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199EFF94-3E21-4EEC-A8BC-14E6CFA023D9}"/>
              </a:ext>
            </a:extLst>
          </p:cNvPr>
          <p:cNvSpPr/>
          <p:nvPr/>
        </p:nvSpPr>
        <p:spPr>
          <a:xfrm>
            <a:off x="6766560" y="1455420"/>
            <a:ext cx="0" cy="484632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9F0BB66F-E922-4F32-A338-41EB1B952F41}"/>
              </a:ext>
            </a:extLst>
          </p:cNvPr>
          <p:cNvSpPr/>
          <p:nvPr/>
        </p:nvSpPr>
        <p:spPr>
          <a:xfrm>
            <a:off x="731520" y="2278380"/>
            <a:ext cx="76809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45A01727-AF11-4AF3-8CA3-90C6DFA1B675}"/>
              </a:ext>
            </a:extLst>
          </p:cNvPr>
          <p:cNvSpPr/>
          <p:nvPr/>
        </p:nvSpPr>
        <p:spPr>
          <a:xfrm>
            <a:off x="731520" y="3284220"/>
            <a:ext cx="76809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5E967EAF-0B8B-4150-97B5-2BB70F593676}"/>
              </a:ext>
            </a:extLst>
          </p:cNvPr>
          <p:cNvSpPr/>
          <p:nvPr/>
        </p:nvSpPr>
        <p:spPr>
          <a:xfrm>
            <a:off x="731520" y="4290060"/>
            <a:ext cx="76809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E1CA8C2-1579-48AE-9C0D-B35160B9D3F7}"/>
              </a:ext>
            </a:extLst>
          </p:cNvPr>
          <p:cNvSpPr/>
          <p:nvPr/>
        </p:nvSpPr>
        <p:spPr>
          <a:xfrm>
            <a:off x="731520" y="5295900"/>
            <a:ext cx="76809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0F616588-3A1F-4FB8-AD1C-B00B1503A275}"/>
              </a:ext>
            </a:extLst>
          </p:cNvPr>
          <p:cNvSpPr/>
          <p:nvPr/>
        </p:nvSpPr>
        <p:spPr>
          <a:xfrm>
            <a:off x="731520" y="14554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D754C6F4-BD5C-4E18-BBC8-582626D364FF}"/>
              </a:ext>
            </a:extLst>
          </p:cNvPr>
          <p:cNvSpPr/>
          <p:nvPr/>
        </p:nvSpPr>
        <p:spPr>
          <a:xfrm>
            <a:off x="3291840" y="14554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Удобство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каталога</a:t>
            </a:r>
            <a:endParaRPr lang="en-US" sz="20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77612F71-D587-473E-BCBE-8D3465A111E5}"/>
              </a:ext>
            </a:extLst>
          </p:cNvPr>
          <p:cNvSpPr/>
          <p:nvPr/>
        </p:nvSpPr>
        <p:spPr>
          <a:xfrm>
            <a:off x="5029200" y="14554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Скорость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работы</a:t>
            </a:r>
            <a:endParaRPr lang="en-US" sz="20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B6F97D10-A206-4AA0-AF52-98BAF5E35B4A}"/>
              </a:ext>
            </a:extLst>
          </p:cNvPr>
          <p:cNvSpPr/>
          <p:nvPr/>
        </p:nvSpPr>
        <p:spPr>
          <a:xfrm>
            <a:off x="6766560" y="14554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Админ-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панель</a:t>
            </a:r>
            <a:endParaRPr lang="en-US" sz="20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068F00E3-AB0F-40BB-BF7C-42CEB1FAEF7A}"/>
              </a:ext>
            </a:extLst>
          </p:cNvPr>
          <p:cNvSpPr/>
          <p:nvPr/>
        </p:nvSpPr>
        <p:spPr>
          <a:xfrm>
            <a:off x="731520" y="2278380"/>
            <a:ext cx="2560320" cy="10058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Ozon</a:t>
            </a:r>
            <a:endParaRPr lang="en-US" sz="22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1A67AE3C-63E6-4259-BBC5-093CFB010EEB}"/>
              </a:ext>
            </a:extLst>
          </p:cNvPr>
          <p:cNvSpPr/>
          <p:nvPr/>
        </p:nvSpPr>
        <p:spPr>
          <a:xfrm>
            <a:off x="3291840" y="22783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28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37DA5B83-0B9B-4A3F-A50D-AF2BFA58BAE2}"/>
              </a:ext>
            </a:extLst>
          </p:cNvPr>
          <p:cNvSpPr/>
          <p:nvPr/>
        </p:nvSpPr>
        <p:spPr>
          <a:xfrm>
            <a:off x="5029200" y="22783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28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501FB276-76AF-4E42-8F3F-F6758FE5E6FD}"/>
              </a:ext>
            </a:extLst>
          </p:cNvPr>
          <p:cNvSpPr/>
          <p:nvPr/>
        </p:nvSpPr>
        <p:spPr>
          <a:xfrm>
            <a:off x="6766560" y="22783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endParaRPr lang="en-US" sz="28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7F8B3747-D1E7-4EAD-A8E0-68E63E074FF0}"/>
              </a:ext>
            </a:extLst>
          </p:cNvPr>
          <p:cNvSpPr/>
          <p:nvPr/>
        </p:nvSpPr>
        <p:spPr>
          <a:xfrm>
            <a:off x="731520" y="3284220"/>
            <a:ext cx="2560320" cy="10058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Wildberries</a:t>
            </a:r>
            <a:endParaRPr lang="en-US" sz="22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27C56741-4E7F-4397-A0A9-A2D04278B78D}"/>
              </a:ext>
            </a:extLst>
          </p:cNvPr>
          <p:cNvSpPr/>
          <p:nvPr/>
        </p:nvSpPr>
        <p:spPr>
          <a:xfrm>
            <a:off x="3291840" y="32842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28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9D10034A-CE4B-4A8E-B2E4-5B26252B00CB}"/>
              </a:ext>
            </a:extLst>
          </p:cNvPr>
          <p:cNvSpPr/>
          <p:nvPr/>
        </p:nvSpPr>
        <p:spPr>
          <a:xfrm>
            <a:off x="5029200" y="32842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28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12869AF8-887B-4F88-A720-5E2523842A50}"/>
              </a:ext>
            </a:extLst>
          </p:cNvPr>
          <p:cNvSpPr/>
          <p:nvPr/>
        </p:nvSpPr>
        <p:spPr>
          <a:xfrm>
            <a:off x="6766560" y="32842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endParaRPr lang="en-US" sz="280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DF2BEA66-793C-4138-8445-61F03F1FED43}"/>
              </a:ext>
            </a:extLst>
          </p:cNvPr>
          <p:cNvSpPr/>
          <p:nvPr/>
        </p:nvSpPr>
        <p:spPr>
          <a:xfrm>
            <a:off x="731520" y="4290060"/>
            <a:ext cx="2560320" cy="10058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4fresh</a:t>
            </a:r>
            <a:endParaRPr lang="en-US" sz="220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768E4984-32AC-47C2-AC39-B31356ACCCB5}"/>
              </a:ext>
            </a:extLst>
          </p:cNvPr>
          <p:cNvSpPr/>
          <p:nvPr/>
        </p:nvSpPr>
        <p:spPr>
          <a:xfrm>
            <a:off x="3291840" y="42900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2800" dirty="0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5C0515ED-CC1A-4EF2-91EE-3F2CF025BA9B}"/>
              </a:ext>
            </a:extLst>
          </p:cNvPr>
          <p:cNvSpPr/>
          <p:nvPr/>
        </p:nvSpPr>
        <p:spPr>
          <a:xfrm>
            <a:off x="5029200" y="42900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±</a:t>
            </a:r>
            <a:endParaRPr lang="en-US" sz="2800" dirty="0"/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2CE027B6-870C-40AC-B74F-A8C72F7ED7B3}"/>
              </a:ext>
            </a:extLst>
          </p:cNvPr>
          <p:cNvSpPr/>
          <p:nvPr/>
        </p:nvSpPr>
        <p:spPr>
          <a:xfrm>
            <a:off x="6766560" y="42900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2800" dirty="0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3E75F791-6425-4758-A3BE-5368FE8CD2A9}"/>
              </a:ext>
            </a:extLst>
          </p:cNvPr>
          <p:cNvSpPr/>
          <p:nvPr/>
        </p:nvSpPr>
        <p:spPr>
          <a:xfrm>
            <a:off x="731520" y="5295900"/>
            <a:ext cx="2560320" cy="10058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LOOP</a:t>
            </a:r>
            <a:endParaRPr lang="en-US" sz="220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EAA8DBAB-78AB-42C1-9131-273239EE34EC}"/>
              </a:ext>
            </a:extLst>
          </p:cNvPr>
          <p:cNvSpPr/>
          <p:nvPr/>
        </p:nvSpPr>
        <p:spPr>
          <a:xfrm>
            <a:off x="3291840" y="52959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2800" dirty="0"/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9BFA1505-671C-42D5-B5E1-C1D3C57C7A93}"/>
              </a:ext>
            </a:extLst>
          </p:cNvPr>
          <p:cNvSpPr/>
          <p:nvPr/>
        </p:nvSpPr>
        <p:spPr>
          <a:xfrm>
            <a:off x="5029200" y="52959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2800" dirty="0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9FAC4481-2A68-4D39-A3D7-1F13543CC66D}"/>
              </a:ext>
            </a:extLst>
          </p:cNvPr>
          <p:cNvSpPr/>
          <p:nvPr/>
        </p:nvSpPr>
        <p:spPr>
          <a:xfrm>
            <a:off x="6766560" y="52959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800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+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1365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charset="0"/>
                <a:ea typeface="+mn-ea"/>
                <a:cs typeface="Arial" charset="0"/>
              </a:rPr>
              <a:t>СТРУКТУРА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8C75D9-D6C1-45F3-BA30-909336ED0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5616"/>
            <a:ext cx="9144000" cy="574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77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charset="0"/>
                <a:ea typeface="+mn-ea"/>
                <a:cs typeface="Arial" charset="0"/>
              </a:rPr>
              <a:t>МАКЕТ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F209D27-124E-4C7A-81CE-9B9A7D109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65" y="1238885"/>
            <a:ext cx="8703470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203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charset="0"/>
                <a:ea typeface="+mn-ea"/>
                <a:cs typeface="Arial" charset="0"/>
              </a:rPr>
              <a:t>ДИЗАЙН</a:t>
            </a:r>
          </a:p>
        </p:txBody>
      </p:sp>
      <p:sp>
        <p:nvSpPr>
          <p:cNvPr id="6" name="Блок-схема: узел 5">
            <a:extLst>
              <a:ext uri="{FF2B5EF4-FFF2-40B4-BE49-F238E27FC236}">
                <a16:creationId xmlns:a16="http://schemas.microsoft.com/office/drawing/2014/main" id="{27D99980-A0DC-444A-9047-C17E6BF99229}"/>
              </a:ext>
            </a:extLst>
          </p:cNvPr>
          <p:cNvSpPr/>
          <p:nvPr/>
        </p:nvSpPr>
        <p:spPr>
          <a:xfrm>
            <a:off x="1793148" y="2552208"/>
            <a:ext cx="1686560" cy="1693514"/>
          </a:xfrm>
          <a:prstGeom prst="flowChartConnector">
            <a:avLst/>
          </a:prstGeom>
          <a:solidFill>
            <a:srgbClr val="F9F9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Блок-схема: узел 9">
            <a:extLst>
              <a:ext uri="{FF2B5EF4-FFF2-40B4-BE49-F238E27FC236}">
                <a16:creationId xmlns:a16="http://schemas.microsoft.com/office/drawing/2014/main" id="{39AD5FBA-6B42-4B5A-9D63-5E23D5E6E48F}"/>
              </a:ext>
            </a:extLst>
          </p:cNvPr>
          <p:cNvSpPr/>
          <p:nvPr/>
        </p:nvSpPr>
        <p:spPr>
          <a:xfrm>
            <a:off x="3728720" y="2582243"/>
            <a:ext cx="1686560" cy="1693514"/>
          </a:xfrm>
          <a:prstGeom prst="flowChartConnector">
            <a:avLst/>
          </a:prstGeom>
          <a:solidFill>
            <a:srgbClr val="6B8A6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Блок-схема: узел 10">
            <a:extLst>
              <a:ext uri="{FF2B5EF4-FFF2-40B4-BE49-F238E27FC236}">
                <a16:creationId xmlns:a16="http://schemas.microsoft.com/office/drawing/2014/main" id="{1AA81F12-6306-4081-812D-399584E5D783}"/>
              </a:ext>
            </a:extLst>
          </p:cNvPr>
          <p:cNvSpPr/>
          <p:nvPr/>
        </p:nvSpPr>
        <p:spPr>
          <a:xfrm>
            <a:off x="5664292" y="2582243"/>
            <a:ext cx="1686560" cy="1693514"/>
          </a:xfrm>
          <a:prstGeom prst="flowChartConnector">
            <a:avLst/>
          </a:prstGeom>
          <a:solidFill>
            <a:srgbClr val="2C3E2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830504-01C7-464F-82CB-C342D3BA9DC4}"/>
              </a:ext>
            </a:extLst>
          </p:cNvPr>
          <p:cNvSpPr txBox="1"/>
          <p:nvPr/>
        </p:nvSpPr>
        <p:spPr>
          <a:xfrm>
            <a:off x="6035132" y="3244334"/>
            <a:ext cx="944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2C3E2C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7636C2-7265-446D-BD33-9A7BE498FF60}"/>
              </a:ext>
            </a:extLst>
          </p:cNvPr>
          <p:cNvSpPr txBox="1"/>
          <p:nvPr/>
        </p:nvSpPr>
        <p:spPr>
          <a:xfrm>
            <a:off x="4152946" y="3244334"/>
            <a:ext cx="92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6B8A6B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56B79A-3CF8-4D0E-B701-CAFEA2F3CD19}"/>
              </a:ext>
            </a:extLst>
          </p:cNvPr>
          <p:cNvSpPr txBox="1"/>
          <p:nvPr/>
        </p:nvSpPr>
        <p:spPr>
          <a:xfrm>
            <a:off x="2202180" y="3244334"/>
            <a:ext cx="894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F9F9F9</a:t>
            </a:r>
          </a:p>
        </p:txBody>
      </p:sp>
    </p:spTree>
    <p:extLst>
      <p:ext uri="{BB962C8B-B14F-4D97-AF65-F5344CB8AC3E}">
        <p14:creationId xmlns:p14="http://schemas.microsoft.com/office/powerpoint/2010/main" val="3763322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charset="0"/>
                <a:ea typeface="+mn-ea"/>
                <a:cs typeface="Arial" charset="0"/>
              </a:rPr>
              <a:t>ГОТОВЫЙ ПРОЕКТ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04070FB-D971-4A3C-9382-8300A3D9E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800" y="1519501"/>
            <a:ext cx="3960000" cy="492241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47B49EB-0E37-44FB-8158-5D1C4B0BA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75" y="1276728"/>
            <a:ext cx="3240000" cy="540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540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charset="0"/>
                <a:ea typeface="+mn-ea"/>
                <a:cs typeface="Arial" charset="0"/>
              </a:rPr>
              <a:t>ТЕСТИРОВАНИЕ И ОТЛАДКА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2E2003-17AA-196A-38FF-04D7C478AB9C}"/>
              </a:ext>
            </a:extLst>
          </p:cNvPr>
          <p:cNvSpPr txBox="1"/>
          <p:nvPr/>
        </p:nvSpPr>
        <p:spPr>
          <a:xfrm>
            <a:off x="457200" y="1340768"/>
            <a:ext cx="8229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dirty="0" err="1">
                <a:latin typeface="Times New Roman"/>
              </a:rPr>
              <a:t>Проект</a:t>
            </a:r>
            <a:r>
              <a:rPr sz="3200" dirty="0">
                <a:latin typeface="Times New Roman"/>
              </a:rPr>
              <a:t> </a:t>
            </a:r>
            <a:r>
              <a:rPr sz="3200" dirty="0" err="1">
                <a:latin typeface="Times New Roman"/>
              </a:rPr>
              <a:t>протестирован</a:t>
            </a:r>
            <a:r>
              <a:rPr sz="3200" dirty="0">
                <a:latin typeface="Times New Roman"/>
              </a:rPr>
              <a:t> в </a:t>
            </a:r>
            <a:r>
              <a:rPr sz="3200" dirty="0" err="1">
                <a:latin typeface="Times New Roman"/>
              </a:rPr>
              <a:t>браузерах</a:t>
            </a:r>
            <a:r>
              <a:rPr sz="3200" dirty="0">
                <a:latin typeface="Times New Roman"/>
              </a:rPr>
              <a:t> Google Chrome, Mozilla Firefo</a:t>
            </a:r>
            <a:r>
              <a:rPr lang="en-US" sz="3200" dirty="0">
                <a:latin typeface="Times New Roman"/>
              </a:rPr>
              <a:t>x</a:t>
            </a:r>
            <a:r>
              <a:rPr sz="3200" dirty="0">
                <a:latin typeface="Times New Roman"/>
              </a:rPr>
              <a:t>.</a:t>
            </a:r>
          </a:p>
          <a:p>
            <a:r>
              <a:rPr sz="3200" dirty="0" err="1">
                <a:latin typeface="Times New Roman"/>
              </a:rPr>
              <a:t>Проверены</a:t>
            </a:r>
            <a:r>
              <a:rPr sz="3200" dirty="0">
                <a:latin typeface="Times New Roman"/>
              </a:rPr>
              <a:t> </a:t>
            </a:r>
            <a:r>
              <a:rPr sz="3200" dirty="0" err="1">
                <a:latin typeface="Times New Roman"/>
              </a:rPr>
              <a:t>сценарии</a:t>
            </a:r>
            <a:r>
              <a:rPr sz="3200" dirty="0">
                <a:latin typeface="Times New Roman"/>
              </a:rPr>
              <a:t>: </a:t>
            </a:r>
            <a:r>
              <a:rPr sz="3200" dirty="0" err="1">
                <a:latin typeface="Times New Roman"/>
              </a:rPr>
              <a:t>регистрация</a:t>
            </a:r>
            <a:r>
              <a:rPr sz="3200" dirty="0">
                <a:latin typeface="Times New Roman"/>
              </a:rPr>
              <a:t>/</a:t>
            </a:r>
            <a:r>
              <a:rPr sz="3200" dirty="0" err="1">
                <a:latin typeface="Times New Roman"/>
              </a:rPr>
              <a:t>вход</a:t>
            </a:r>
            <a:r>
              <a:rPr sz="3200" dirty="0">
                <a:latin typeface="Times New Roman"/>
              </a:rPr>
              <a:t>, </a:t>
            </a:r>
            <a:r>
              <a:rPr sz="3200" dirty="0" err="1">
                <a:latin typeface="Times New Roman"/>
              </a:rPr>
              <a:t>добавление</a:t>
            </a:r>
            <a:r>
              <a:rPr sz="3200" dirty="0">
                <a:latin typeface="Times New Roman"/>
              </a:rPr>
              <a:t> в </a:t>
            </a:r>
            <a:r>
              <a:rPr sz="3200" dirty="0" err="1">
                <a:latin typeface="Times New Roman"/>
              </a:rPr>
              <a:t>корзину</a:t>
            </a:r>
            <a:r>
              <a:rPr sz="3200" dirty="0">
                <a:latin typeface="Times New Roman"/>
              </a:rPr>
              <a:t>, </a:t>
            </a:r>
            <a:r>
              <a:rPr sz="3200" dirty="0" err="1">
                <a:latin typeface="Times New Roman"/>
              </a:rPr>
              <a:t>избранное</a:t>
            </a:r>
            <a:r>
              <a:rPr sz="3200" dirty="0">
                <a:latin typeface="Times New Roman"/>
              </a:rPr>
              <a:t>, </a:t>
            </a:r>
            <a:r>
              <a:rPr sz="3200" dirty="0" err="1">
                <a:latin typeface="Times New Roman"/>
              </a:rPr>
              <a:t>оформление</a:t>
            </a:r>
            <a:r>
              <a:rPr sz="3200" dirty="0">
                <a:latin typeface="Times New Roman"/>
              </a:rPr>
              <a:t> </a:t>
            </a:r>
            <a:r>
              <a:rPr sz="3200" dirty="0" err="1">
                <a:latin typeface="Times New Roman"/>
              </a:rPr>
              <a:t>заказа</a:t>
            </a:r>
            <a:r>
              <a:rPr sz="3200" dirty="0">
                <a:latin typeface="Times New Roman"/>
              </a:rPr>
              <a:t>, </a:t>
            </a:r>
            <a:r>
              <a:rPr sz="3200" dirty="0" err="1">
                <a:latin typeface="Times New Roman"/>
              </a:rPr>
              <a:t>промокоды</a:t>
            </a:r>
            <a:r>
              <a:rPr sz="3200" dirty="0">
                <a:latin typeface="Times New Roman"/>
              </a:rPr>
              <a:t>.</a:t>
            </a:r>
          </a:p>
          <a:p>
            <a:r>
              <a:rPr sz="3200" dirty="0" err="1">
                <a:latin typeface="Times New Roman"/>
              </a:rPr>
              <a:t>Проведена</a:t>
            </a:r>
            <a:r>
              <a:rPr sz="3200" dirty="0">
                <a:latin typeface="Times New Roman"/>
              </a:rPr>
              <a:t> </a:t>
            </a:r>
            <a:r>
              <a:rPr sz="3200" dirty="0" err="1">
                <a:latin typeface="Times New Roman"/>
              </a:rPr>
              <a:t>проверка</a:t>
            </a:r>
            <a:r>
              <a:rPr sz="3200" dirty="0">
                <a:latin typeface="Times New Roman"/>
              </a:rPr>
              <a:t> </a:t>
            </a:r>
            <a:r>
              <a:rPr sz="3200" dirty="0" err="1">
                <a:latin typeface="Times New Roman"/>
              </a:rPr>
              <a:t>корректности</a:t>
            </a:r>
            <a:r>
              <a:rPr sz="3200" dirty="0">
                <a:latin typeface="Times New Roman"/>
              </a:rPr>
              <a:t> </a:t>
            </a:r>
            <a:r>
              <a:rPr sz="3200" dirty="0" err="1">
                <a:latin typeface="Times New Roman"/>
              </a:rPr>
              <a:t>вёрстки</a:t>
            </a:r>
            <a:r>
              <a:rPr sz="3200" dirty="0">
                <a:latin typeface="Times New Roman"/>
              </a:rPr>
              <a:t> </a:t>
            </a:r>
            <a:r>
              <a:rPr sz="3200" dirty="0" err="1">
                <a:latin typeface="Times New Roman"/>
              </a:rPr>
              <a:t>на</a:t>
            </a:r>
            <a:r>
              <a:rPr sz="3200" dirty="0">
                <a:latin typeface="Times New Roman"/>
              </a:rPr>
              <a:t> </a:t>
            </a:r>
            <a:r>
              <a:rPr sz="3200" dirty="0" err="1">
                <a:latin typeface="Times New Roman"/>
              </a:rPr>
              <a:t>разных</a:t>
            </a:r>
            <a:r>
              <a:rPr sz="3200" dirty="0">
                <a:latin typeface="Times New Roman"/>
              </a:rPr>
              <a:t> </a:t>
            </a:r>
            <a:r>
              <a:rPr sz="3200" dirty="0" err="1">
                <a:latin typeface="Times New Roman"/>
              </a:rPr>
              <a:t>разрешениях</a:t>
            </a:r>
            <a:r>
              <a:rPr sz="3200" dirty="0">
                <a:latin typeface="Times New Roman"/>
              </a:rPr>
              <a:t>.</a:t>
            </a:r>
          </a:p>
          <a:p>
            <a:r>
              <a:rPr sz="3200" dirty="0" err="1">
                <a:latin typeface="Times New Roman"/>
              </a:rPr>
              <a:t>Ошибки</a:t>
            </a:r>
            <a:r>
              <a:rPr sz="3200" dirty="0">
                <a:latin typeface="Times New Roman"/>
              </a:rPr>
              <a:t>, </a:t>
            </a:r>
            <a:r>
              <a:rPr sz="3200" dirty="0" err="1">
                <a:latin typeface="Times New Roman"/>
              </a:rPr>
              <a:t>выявленные</a:t>
            </a:r>
            <a:r>
              <a:rPr sz="3200" dirty="0">
                <a:latin typeface="Times New Roman"/>
              </a:rPr>
              <a:t> в </a:t>
            </a:r>
            <a:r>
              <a:rPr sz="3200" dirty="0" err="1">
                <a:latin typeface="Times New Roman"/>
              </a:rPr>
              <a:t>ходе</a:t>
            </a:r>
            <a:r>
              <a:rPr sz="3200" dirty="0">
                <a:latin typeface="Times New Roman"/>
              </a:rPr>
              <a:t> </a:t>
            </a:r>
            <a:r>
              <a:rPr sz="3200" dirty="0" err="1">
                <a:latin typeface="Times New Roman"/>
              </a:rPr>
              <a:t>тестирования</a:t>
            </a:r>
            <a:r>
              <a:rPr sz="3200" dirty="0">
                <a:latin typeface="Times New Roman"/>
              </a:rPr>
              <a:t>, </a:t>
            </a:r>
            <a:r>
              <a:rPr sz="3200" dirty="0" err="1">
                <a:latin typeface="Times New Roman"/>
              </a:rPr>
              <a:t>устранены</a:t>
            </a:r>
            <a:r>
              <a:rPr sz="3200" dirty="0">
                <a:latin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3148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charset="0"/>
                <a:ea typeface="+mn-ea"/>
                <a:cs typeface="Arial" charset="0"/>
              </a:rPr>
              <a:t>РУКОВОДСТВО ПОЛЬЗОВАТЕЛЯ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48C25D-3A30-5A95-F0CD-1CD077F400D8}"/>
              </a:ext>
            </a:extLst>
          </p:cNvPr>
          <p:cNvSpPr txBox="1"/>
          <p:nvPr/>
        </p:nvSpPr>
        <p:spPr>
          <a:xfrm>
            <a:off x="448210" y="1170283"/>
            <a:ext cx="8208912" cy="481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sz="2400" dirty="0" err="1">
                <a:latin typeface="Times New Roman"/>
              </a:rPr>
              <a:t>Минимальные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требования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для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работы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проекта</a:t>
            </a:r>
            <a:r>
              <a:rPr sz="2400" dirty="0">
                <a:latin typeface="Times New Roman"/>
              </a:rPr>
              <a:t>: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/>
              </a:rPr>
              <a:t>• </a:t>
            </a:r>
            <a:r>
              <a:rPr sz="2400" dirty="0" err="1">
                <a:latin typeface="Times New Roman"/>
              </a:rPr>
              <a:t>Сервер</a:t>
            </a:r>
            <a:r>
              <a:rPr sz="2400" dirty="0">
                <a:latin typeface="Times New Roman"/>
              </a:rPr>
              <a:t>: Apache, PHP 8.x, MySQL/MariaDB.</a:t>
            </a:r>
          </a:p>
          <a:p>
            <a:r>
              <a:rPr sz="2400" dirty="0">
                <a:latin typeface="Times New Roman"/>
              </a:rPr>
              <a:t>• </a:t>
            </a:r>
            <a:r>
              <a:rPr sz="2400" dirty="0" err="1">
                <a:latin typeface="Times New Roman"/>
              </a:rPr>
              <a:t>Клиент</a:t>
            </a:r>
            <a:r>
              <a:rPr sz="2400" dirty="0">
                <a:latin typeface="Times New Roman"/>
              </a:rPr>
              <a:t>: </a:t>
            </a:r>
            <a:r>
              <a:rPr sz="2400" dirty="0" err="1">
                <a:latin typeface="Times New Roman"/>
              </a:rPr>
              <a:t>любой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современный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браузер</a:t>
            </a:r>
            <a:r>
              <a:rPr sz="2400" dirty="0">
                <a:latin typeface="Times New Roman"/>
              </a:rPr>
              <a:t> (Chrome/Firefox), </a:t>
            </a:r>
            <a:r>
              <a:rPr sz="2400" dirty="0" err="1">
                <a:latin typeface="Times New Roman"/>
              </a:rPr>
              <a:t>интернет-соединение</a:t>
            </a:r>
            <a:r>
              <a:rPr sz="2400" dirty="0">
                <a:latin typeface="Times New Roman"/>
              </a:rPr>
              <a:t>.</a:t>
            </a:r>
          </a:p>
          <a:p>
            <a:endParaRPr sz="2400" dirty="0">
              <a:latin typeface="Times New Roman"/>
            </a:endParaRPr>
          </a:p>
          <a:p>
            <a:r>
              <a:rPr sz="2400" dirty="0" err="1">
                <a:latin typeface="Times New Roman"/>
              </a:rPr>
              <a:t>Порядок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работы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пользователя</a:t>
            </a:r>
            <a:r>
              <a:rPr sz="2400" dirty="0">
                <a:latin typeface="Times New Roman"/>
              </a:rPr>
              <a:t>:</a:t>
            </a:r>
          </a:p>
          <a:p>
            <a:r>
              <a:rPr sz="2400" dirty="0">
                <a:latin typeface="Times New Roman"/>
              </a:rPr>
              <a:t>1) </a:t>
            </a:r>
            <a:r>
              <a:rPr sz="2400" dirty="0" err="1">
                <a:latin typeface="Times New Roman"/>
              </a:rPr>
              <a:t>Зарегистрироваться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или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войти</a:t>
            </a:r>
            <a:r>
              <a:rPr sz="2400" dirty="0">
                <a:latin typeface="Times New Roman"/>
              </a:rPr>
              <a:t> в </a:t>
            </a:r>
            <a:r>
              <a:rPr sz="2400" dirty="0" err="1">
                <a:latin typeface="Times New Roman"/>
              </a:rPr>
              <a:t>аккаунт</a:t>
            </a:r>
            <a:r>
              <a:rPr sz="2400" dirty="0">
                <a:latin typeface="Times New Roman"/>
              </a:rPr>
              <a:t>.</a:t>
            </a:r>
          </a:p>
          <a:p>
            <a:r>
              <a:rPr sz="2400" dirty="0">
                <a:latin typeface="Times New Roman"/>
              </a:rPr>
              <a:t>2) </a:t>
            </a:r>
            <a:r>
              <a:rPr sz="2400" dirty="0" err="1">
                <a:latin typeface="Times New Roman"/>
              </a:rPr>
              <a:t>Выбрать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товары</a:t>
            </a:r>
            <a:r>
              <a:rPr sz="2400" dirty="0">
                <a:latin typeface="Times New Roman"/>
              </a:rPr>
              <a:t> в </a:t>
            </a:r>
            <a:r>
              <a:rPr sz="2400" dirty="0" err="1">
                <a:latin typeface="Times New Roman"/>
              </a:rPr>
              <a:t>каталоге</a:t>
            </a:r>
            <a:r>
              <a:rPr sz="2400" dirty="0">
                <a:latin typeface="Times New Roman"/>
              </a:rPr>
              <a:t>, </a:t>
            </a:r>
            <a:r>
              <a:rPr sz="2400" dirty="0" err="1">
                <a:latin typeface="Times New Roman"/>
              </a:rPr>
              <a:t>добавить</a:t>
            </a:r>
            <a:r>
              <a:rPr sz="2400" dirty="0">
                <a:latin typeface="Times New Roman"/>
              </a:rPr>
              <a:t> в </a:t>
            </a:r>
            <a:r>
              <a:rPr sz="2400" dirty="0" err="1">
                <a:latin typeface="Times New Roman"/>
              </a:rPr>
              <a:t>корзину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или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избранное</a:t>
            </a:r>
            <a:r>
              <a:rPr sz="2400" dirty="0">
                <a:latin typeface="Times New Roman"/>
              </a:rPr>
              <a:t>.</a:t>
            </a:r>
          </a:p>
          <a:p>
            <a:r>
              <a:rPr sz="2400" dirty="0">
                <a:latin typeface="Times New Roman"/>
              </a:rPr>
              <a:t>3) </a:t>
            </a:r>
            <a:r>
              <a:rPr sz="2400" dirty="0" err="1">
                <a:latin typeface="Times New Roman"/>
              </a:rPr>
              <a:t>Оформить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заказ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на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странице</a:t>
            </a:r>
            <a:r>
              <a:rPr sz="2400" dirty="0">
                <a:latin typeface="Times New Roman"/>
              </a:rPr>
              <a:t> Checkout и </a:t>
            </a:r>
            <a:r>
              <a:rPr sz="2400" dirty="0" err="1">
                <a:latin typeface="Times New Roman"/>
              </a:rPr>
              <a:t>применить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промокод</a:t>
            </a:r>
            <a:r>
              <a:rPr sz="2400" dirty="0">
                <a:latin typeface="Times New Roman"/>
              </a:rPr>
              <a:t> (</a:t>
            </a:r>
            <a:r>
              <a:rPr sz="2400" dirty="0" err="1">
                <a:latin typeface="Times New Roman"/>
              </a:rPr>
              <a:t>при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наличии</a:t>
            </a:r>
            <a:r>
              <a:rPr sz="2400" dirty="0">
                <a:latin typeface="Times New Roman"/>
              </a:rPr>
              <a:t>).</a:t>
            </a:r>
          </a:p>
          <a:p>
            <a:r>
              <a:rPr sz="2400" dirty="0">
                <a:latin typeface="Times New Roman"/>
              </a:rPr>
              <a:t>4) </a:t>
            </a:r>
            <a:r>
              <a:rPr sz="2400" dirty="0" err="1">
                <a:latin typeface="Times New Roman"/>
              </a:rPr>
              <a:t>Отслеживать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статус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заказа</a:t>
            </a:r>
            <a:r>
              <a:rPr sz="2400" dirty="0">
                <a:latin typeface="Times New Roman"/>
              </a:rPr>
              <a:t> в </a:t>
            </a:r>
            <a:r>
              <a:rPr sz="2400" dirty="0" err="1">
                <a:latin typeface="Times New Roman"/>
              </a:rPr>
              <a:t>личном</a:t>
            </a:r>
            <a:r>
              <a:rPr sz="2400" dirty="0">
                <a:latin typeface="Times New Roman"/>
              </a:rPr>
              <a:t> </a:t>
            </a:r>
            <a:r>
              <a:rPr sz="2400" dirty="0" err="1">
                <a:latin typeface="Times New Roman"/>
              </a:rPr>
              <a:t>кабинете</a:t>
            </a:r>
            <a:r>
              <a:rPr sz="2400" dirty="0">
                <a:latin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7995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411760" y="4365104"/>
            <a:ext cx="6688832" cy="1728192"/>
          </a:xfrm>
        </p:spPr>
        <p:txBody>
          <a:bodyPr>
            <a:noAutofit/>
          </a:bodyPr>
          <a:lstStyle/>
          <a:p>
            <a:pPr algn="l"/>
            <a:r>
              <a:rPr sz="1400" b="1" dirty="0" err="1">
                <a:solidFill>
                  <a:schemeClr val="tx1"/>
                </a:solidFill>
                <a:latin typeface="Times New Roman"/>
              </a:rPr>
              <a:t>по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программе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подготовки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специалистов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среднего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звена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специальности</a:t>
            </a:r>
            <a:endParaRPr lang="ru-RU" sz="1400" b="1" dirty="0">
              <a:solidFill>
                <a:schemeClr val="tx1"/>
              </a:solidFill>
              <a:latin typeface="Times New Roman"/>
            </a:endParaRPr>
          </a:p>
          <a:p>
            <a:pPr algn="l"/>
            <a:r>
              <a:rPr sz="1400" b="1" dirty="0">
                <a:solidFill>
                  <a:schemeClr val="tx1"/>
                </a:solidFill>
                <a:latin typeface="Times New Roman"/>
              </a:rPr>
              <a:t>09.02.07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Информационные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системы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и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программирование</a:t>
            </a:r>
            <a:endParaRPr lang="ru-RU" sz="1400" b="1" dirty="0">
              <a:solidFill>
                <a:schemeClr val="tx1"/>
              </a:solidFill>
              <a:latin typeface="Times New Roman"/>
            </a:endParaRPr>
          </a:p>
          <a:p>
            <a:pPr algn="l"/>
            <a:r>
              <a:rPr sz="1400" b="1" dirty="0" err="1">
                <a:solidFill>
                  <a:schemeClr val="tx1"/>
                </a:solidFill>
                <a:latin typeface="Times New Roman"/>
              </a:rPr>
              <a:t>выполнена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студентом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Овчинников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Максим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Алексеевич</a:t>
            </a:r>
            <a:endParaRPr lang="ru-RU" sz="1400" b="1" dirty="0">
              <a:solidFill>
                <a:schemeClr val="tx1"/>
              </a:solidFill>
              <a:latin typeface="Times New Roman"/>
            </a:endParaRPr>
          </a:p>
          <a:p>
            <a:pPr algn="l"/>
            <a:r>
              <a:rPr sz="1400" b="1" dirty="0" err="1">
                <a:solidFill>
                  <a:schemeClr val="tx1"/>
                </a:solidFill>
                <a:latin typeface="Times New Roman"/>
              </a:rPr>
              <a:t>группа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4 ИСИП А</a:t>
            </a:r>
            <a:endParaRPr lang="ru-RU" sz="1400" b="1" dirty="0">
              <a:solidFill>
                <a:schemeClr val="tx1"/>
              </a:solidFill>
              <a:latin typeface="Times New Roman"/>
            </a:endParaRPr>
          </a:p>
          <a:p>
            <a:pPr algn="l"/>
            <a:r>
              <a:rPr sz="1400" b="1" dirty="0" err="1">
                <a:solidFill>
                  <a:schemeClr val="tx1"/>
                </a:solidFill>
                <a:latin typeface="Times New Roman"/>
              </a:rPr>
              <a:t>Очной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формы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обучения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endParaRPr lang="ru-RU" sz="1400" b="1" dirty="0">
              <a:solidFill>
                <a:schemeClr val="tx1"/>
              </a:solidFill>
              <a:latin typeface="Times New Roman"/>
            </a:endParaRPr>
          </a:p>
          <a:p>
            <a:pPr algn="l"/>
            <a:r>
              <a:rPr sz="1400" b="1" dirty="0" err="1">
                <a:solidFill>
                  <a:schemeClr val="tx1"/>
                </a:solidFill>
                <a:latin typeface="Times New Roman"/>
              </a:rPr>
              <a:t>Руководитель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Будакова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Ольга</a:t>
            </a:r>
            <a:r>
              <a:rPr sz="1400" b="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1400" b="1" dirty="0" err="1">
                <a:solidFill>
                  <a:schemeClr val="tx1"/>
                </a:solidFill>
                <a:latin typeface="Times New Roman"/>
              </a:rPr>
              <a:t>Васильевна</a:t>
            </a:r>
            <a:endParaRPr sz="1400" b="1" dirty="0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1120080" y="-2738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МИНИСТЕРСТВО ОБРАЗОВАНИЯ  РБ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ГОСУДАРСТВЕННОЕ БЮДЖЕТНОЕ ПРОФЕССИОНАЛЬНОЕ ОБРАЗОВАТЕЛЬНОЕ УЧРЕЖДЕНИЕ УФИМСКИЙ МНОГОПРОФИЛЬНЫЙ ПРОФЕССИОНАЛЬНЫЙ КОЛЛЕДЖ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899592" y="1442641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1358472" y="6237312"/>
            <a:ext cx="6400800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sz="2000" b="0" i="0" u="none">
                <a:latin typeface="Calibri"/>
              </a:rPr>
              <a:t>2026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619672" y="1326247"/>
            <a:ext cx="640871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800" b="1" i="0" u="none">
                <a:latin typeface="Times New Roman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9134650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459</Words>
  <Application>Microsoft Office PowerPoint</Application>
  <PresentationFormat>Экран (4:3)</PresentationFormat>
  <Paragraphs>89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Тема Office</vt:lpstr>
      <vt:lpstr>Презентация PowerPoint</vt:lpstr>
      <vt:lpstr>ЦЕЛЬ ИССЛЕДОВАНИЯ</vt:lpstr>
      <vt:lpstr>ЗАДАЧИ</vt:lpstr>
      <vt:lpstr>ОБЪЕКТ</vt:lpstr>
      <vt:lpstr>ПРЕДМЕТ</vt:lpstr>
      <vt:lpstr>ПРАКТИЧЕСКАЯ ЗНАЧИМОСТЬ</vt:lpstr>
      <vt:lpstr>ЭТАПЫ РАЗРАБОТКИ</vt:lpstr>
      <vt:lpstr>АНАЛИЗ РЫНКА</vt:lpstr>
      <vt:lpstr>СТРУКТУРА</vt:lpstr>
      <vt:lpstr>МАКЕТ</vt:lpstr>
      <vt:lpstr>ДИЗАЙН</vt:lpstr>
      <vt:lpstr>ГОТОВЫЙ ПРОЕКТ</vt:lpstr>
      <vt:lpstr>ТЕСТИРОВАНИЕ И ОТЛАДКА</vt:lpstr>
      <vt:lpstr>РУКОВОДСТВО ПОЛЬЗОВАТЕЛЯ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Administrator</dc:creator>
  <cp:lastModifiedBy>Administrator</cp:lastModifiedBy>
  <cp:revision>23</cp:revision>
  <dcterms:modified xsi:type="dcterms:W3CDTF">2026-03-02T03:46:49Z</dcterms:modified>
</cp:coreProperties>
</file>